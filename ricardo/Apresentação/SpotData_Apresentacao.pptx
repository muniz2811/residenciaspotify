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0A"/>
                </a:solidFill>
              </a:rPr>
              <a:t>♪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502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</a:rPr>
              <a:t>SpotData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325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B954"/>
                </a:solidFill>
              </a:rPr>
              <a:t>Detetives dos Dados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1920240"/>
            <a:ext cx="6858000" cy="13716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4520" y="2103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3B3B3"/>
                </a:solidFill>
              </a:rPr>
              <a:t>Análise e Recomendação Musical com IA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Residência em IA  ·  UnB  · 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5661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288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B954"/>
                </a:solidFill>
              </a:rPr>
              <a:t>89.740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músicas únicas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35661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B954"/>
                </a:solidFill>
              </a:rPr>
              <a:t>114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gêneros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35661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B954"/>
                </a:solidFill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fases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35661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B954"/>
                </a:solidFill>
              </a:rPr>
              <a:t>7ms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por consulta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Contexto do Projeto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Residência em IA · UnB · Turma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463040"/>
          </a:xfrm>
          <a:prstGeom prst="roundRect">
            <a:avLst>
              <a:gd name="adj" fmla="val 6250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</a:rPr>
              <a:t>O Desafio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105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Gerar insights a partir de um dataset musical do Spotify com 114.000 linhas e entregar recomendações baseadas em evidências.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60520" cy="1463040"/>
          </a:xfrm>
          <a:prstGeom prst="roundRect">
            <a:avLst>
              <a:gd name="adj" fmla="val 6250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8105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Sistema completo de análise, limpeza e recomendação com motor Python + interface visual estilo Spotify.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E1E1E"/>
          </a:solidFill>
          <a:ln w="12700">
            <a:solidFill>
              <a:srgbClr val="158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10896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Limpeza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114k → 89.740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músicas únicas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30175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E1E1E"/>
          </a:solidFill>
          <a:ln w="12700">
            <a:solidFill>
              <a:srgbClr val="158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310896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461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Motor IA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Cosine Similarity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8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E1E1E"/>
          </a:solidFill>
          <a:ln w="12700">
            <a:solidFill>
              <a:srgbClr val="158A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0680" y="310896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Interface estilo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Spotify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30175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E1E1E"/>
          </a:solidFill>
          <a:ln w="12700">
            <a:solidFill>
              <a:srgbClr val="158A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310896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352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Integração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Validação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documentação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Fase 1  ·  Limpeza e Preparação dos 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3A00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Antes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898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114.000 linhas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21 colunas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24.259 duplicatas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3 nulos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DB954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17520" y="100584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003A1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7D"/>
                </a:solidFill>
              </a:rPr>
              <a:t>Depois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3898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89.740 únicas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34 colunas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0 duplicatas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0 nulos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</a:rPr>
              <a:t>13 colunas novas criadas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1389888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1353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duration_min — duração em minutos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664208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1627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mood — quadrante emocional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938528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0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is_podcast — flag faixas longas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212848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2176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is_explicit — conteúdo adulto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487168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genre_main — samba / sertanejo / pop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2761488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2724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all_genres — todos os gêneros da faixa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3035808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8 features _scaled — StandardScaler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Perfil emocional do catálogo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Animado 🟡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920240" y="2880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33.220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2916936"/>
            <a:ext cx="4114800" cy="18288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2916936"/>
            <a:ext cx="1522476" cy="182880"/>
          </a:xfrm>
          <a:prstGeom prst="roundRect">
            <a:avLst>
              <a:gd name="adj" fmla="val 20000"/>
            </a:avLst>
          </a:prstGeom>
          <a:solidFill>
            <a:srgbClr val="F4C20D"/>
          </a:solidFill>
          <a:ln w="12700">
            <a:solidFill>
              <a:srgbClr val="F4C20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37.0%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Intenso 🔴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920240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30.211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34640" y="3419856"/>
            <a:ext cx="4114800" cy="18288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3419856"/>
            <a:ext cx="1386688" cy="18288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33.7%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Triste 🔵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92024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19.030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3922776"/>
            <a:ext cx="4114800" cy="18288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34640" y="3922776"/>
            <a:ext cx="872338" cy="182880"/>
          </a:xfrm>
          <a:prstGeom prst="roundRect">
            <a:avLst>
              <a:gd name="adj" fmla="val 20000"/>
            </a:avLst>
          </a:prstGeom>
          <a:solidFill>
            <a:srgbClr val="5BA3F5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4088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21.2%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Relaxado 🟢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920240" y="4389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7.279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34640" y="4425696"/>
            <a:ext cx="4114800" cy="18288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34640" y="4425696"/>
            <a:ext cx="333299" cy="182880"/>
          </a:xfrm>
          <a:prstGeom prst="roundRect">
            <a:avLst>
              <a:gd name="adj" fmla="val 20000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4088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8.1%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Fase 2  ·  Motor de Recomendação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01A0D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</a:rPr>
              <a:t>Algoritmo: Cosine Similarity nas 8 features de áudio normalizadas por StandardScaler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Tempo de resposta: 7ms para 89.740 músicas  ·  Diversidade: máx 1 artista por resultado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4C20D"/>
          </a:solidFill>
          <a:ln w="12700">
            <a:solidFill>
              <a:srgbClr val="F4C20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M1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top5.py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Ranking por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popularidade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66544" y="201168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2103120"/>
            <a:ext cx="640080" cy="640080"/>
          </a:xfrm>
          <a:prstGeom prst="ellipse">
            <a:avLst/>
          </a:prstGeom>
          <a:solidFill>
            <a:srgbClr val="5BA3F5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2374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M2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066544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recomendador.py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066544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Músicas similares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via cosseno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67328" y="201168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2103120"/>
            <a:ext cx="640080" cy="64008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2452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M3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67328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playlist.py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767328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Filtro gênero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+ mood + energia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68112" y="201168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25312" y="2103120"/>
            <a:ext cx="640080" cy="640080"/>
          </a:xfrm>
          <a:prstGeom prst="ellipse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253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M4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68112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podcasts.py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68112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Faixas longas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&gt; 20 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68896" y="201168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210312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2609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M5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68896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perfil.py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168896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Vetor médio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das favoritas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 features de áudio (vetor musical de cada faixa):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434840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5760" y="44348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  danceability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14600" y="4434840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14600" y="44348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  energy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4434840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44348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  speechiness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12280" y="4434840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12280" y="44348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  acousticness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727448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5760" y="4727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  instrumentalness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14600" y="4727448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514600" y="4727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  liveness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4727448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63440" y="4727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  valence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12280" y="4727448"/>
            <a:ext cx="1965960" cy="237744"/>
          </a:xfrm>
          <a:prstGeom prst="roundRect">
            <a:avLst>
              <a:gd name="adj" fmla="val 23077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12280" y="4727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  tempo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Estrutura do Código  ·  Arquitetura Modular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Organização dos arquivos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89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unbResidencia/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6367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              ← ponto de entrada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83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frontend_spotify.html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130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dataset_clean.csv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377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624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2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spotify/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8712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__init__.py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118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dados.py         ← CSV compartilhado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364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top5.py          ← módulo 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recomendador.py  ← módulos 2+5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58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playlist.py      ← módulo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105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podcasts.py      ← módulo 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Princípio de design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🔁  Separação de responsabilidades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Cada arquivo faz uma única coisa. Fácil de testar e modificar isoladamente.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176272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Pacote Python (spotify/)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O __init__.py transforma a pasta em módulo — permite importar com from spotify.top5 import get_top5.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072384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💾  Dados carregados uma vez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456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dados.py carrega o CSV e a matriz uma única vez e compartilha com todos os módulos via variáveis globais.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968496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7ms por consulta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4352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Cosine similarity vetorizado pelo NumPy — sem loops Python, comparação direta em memória.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Fase 3  ·  Frontend  ·  Interface Visual SpotData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828800" cy="3840480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78992"/>
            <a:ext cx="365760" cy="36576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♪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0972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SpotData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2984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A6A"/>
                </a:solidFill>
              </a:rPr>
              <a:t>Residência em IA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367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Início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48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Descobrir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59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Playlist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71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Podcasts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</a:rPr>
              <a:t>GÊNEROS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66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Pop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67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Samba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96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Sertanejo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9601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6312" y="1033272"/>
            <a:ext cx="91440" cy="1042416"/>
          </a:xfrm>
          <a:prstGeom prst="roundRect">
            <a:avLst>
              <a:gd name="adj" fmla="val 50000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Início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14356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Hero + Top 5 populares + perfil emocional + cards de gênero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228600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96312" y="2359152"/>
            <a:ext cx="91440" cy="1042416"/>
          </a:xfrm>
          <a:prstGeom prst="roundRect">
            <a:avLst>
              <a:gd name="adj" fmla="val 50000"/>
            </a:avLst>
          </a:prstGeom>
          <a:solidFill>
            <a:srgbClr val="5BA3F5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748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Descobrir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27614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Cosine Similarity em 3 referências musicais com score de similaridade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361188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96312" y="3685032"/>
            <a:ext cx="91440" cy="1042416"/>
          </a:xfrm>
          <a:prstGeom prst="roundRect">
            <a:avLst>
              <a:gd name="adj" fmla="val 50000"/>
            </a:avLst>
          </a:prstGeom>
          <a:solidFill>
            <a:srgbClr val="F4C20D"/>
          </a:solidFill>
          <a:ln w="12700">
            <a:solidFill>
              <a:srgbClr val="F4C20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9748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🎼 Playlist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697480" y="4087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Filtros de gênero, humor e toggle de conteúdo explícito 🔞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15000" y="9601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88152" y="1033272"/>
            <a:ext cx="91440" cy="1042416"/>
          </a:xfrm>
          <a:prstGeom prst="roundRect">
            <a:avLst>
              <a:gd name="adj" fmla="val 50000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🎙️ Podcasts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14356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Faixas &gt; 20 min identificadas por duração e speechiness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228600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88152" y="2359152"/>
            <a:ext cx="91440" cy="1042416"/>
          </a:xfrm>
          <a:prstGeom prst="roundRect">
            <a:avLst>
              <a:gd name="adj" fmla="val 50000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🔎 Busca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989320" y="27614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Filtro em tempo real por nome ou artista em todo o catálogo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23160" y="43434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0A0A0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514600" y="4434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</a:rPr>
              <a:t>♪  Barra de reprodução ilustrativa  ·  badge ILUSTRATIVO visível ao usuário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Principais Descobertas  ·  Toda afirmação sustentada em 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16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Popularidade ≠ uniformidade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7373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Apenas 4,8% das 89.740 faixas são hits (popularidade ≥ 70). A distribuição é altamente assimétrica — a maioria é cauda longa.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216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35,9% eram duplicatas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7373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A mesma música aparecia em múltiplos gêneros/playlists. Sem deduplicação, qualquer análise estaria contaminada.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188720"/>
            <a:ext cx="457200" cy="457200"/>
          </a:xfrm>
          <a:prstGeom prst="ellipse">
            <a:avLst/>
          </a:prstGeom>
          <a:solidFill>
            <a:srgbClr val="F4C20D"/>
          </a:solidFill>
          <a:ln w="12700">
            <a:solidFill>
              <a:srgbClr val="F4C20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216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Música explícita é mais popular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17373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Faixas com is_explicit=True têm popularidade média 8 pontos acima das não-explícitas — dado relevante para curadoria.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63240"/>
            <a:ext cx="457200" cy="457200"/>
          </a:xfrm>
          <a:prstGeom prst="ellipse">
            <a:avLst/>
          </a:prstGeom>
          <a:solidFill>
            <a:srgbClr val="5BA3F5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090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38% do catálogo é Animado 🟡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6118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O catálogo é dominado por músicas energéticas e positivas. Músicas Relaxadas são apenas 8% — nicho real.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063240"/>
            <a:ext cx="457200" cy="457200"/>
          </a:xfrm>
          <a:prstGeom prst="ellipse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090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Cosine Similarity em 7ms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6118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Buscar as músicas mais similares entre 89.740 registros leva 7 milissegundos — viável para aplicação real.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260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063240"/>
            <a:ext cx="457200" cy="45720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3090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Popularidade zero ≠ rejeição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36118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16.020 faixas têm popularidade=0. O guia pedagógico alerta: pode ser ausência de sinal, não rejeição do público.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que o Sistema Entrega  ·  Demonstração dos Resultados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</a:rPr>
              <a:t>🏆 Top 5 músicas (popularity &gt; 0, deduplicado)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347472"/>
          </a:xfrm>
          <a:prstGeom prst="roundRect">
            <a:avLst>
              <a:gd name="adj" fmla="val 13158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362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Unholy (feat. Kim Petras)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362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</a:rPr>
              <a:t>Sam Smith · Kim Petras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362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100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5029200" cy="347472"/>
          </a:xfrm>
          <a:prstGeom prst="roundRect">
            <a:avLst>
              <a:gd name="adj" fmla="val 13158"/>
            </a:avLst>
          </a:prstGeom>
          <a:solidFill>
            <a:srgbClr val="0A0A0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746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Quevedo: Bzrp Music Sessions, Vol. 52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746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</a:rPr>
              <a:t>Bizarrap · Quevedo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746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99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093976"/>
            <a:ext cx="5029200" cy="347472"/>
          </a:xfrm>
          <a:prstGeom prst="roundRect">
            <a:avLst>
              <a:gd name="adj" fmla="val 13158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 Bachata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</a:rPr>
              <a:t>Manuel Turizo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130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98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478024"/>
            <a:ext cx="5029200" cy="347472"/>
          </a:xfrm>
          <a:prstGeom prst="roundRect">
            <a:avLst>
              <a:gd name="adj" fmla="val 13158"/>
            </a:avLst>
          </a:prstGeom>
          <a:solidFill>
            <a:srgbClr val="0A0A0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I'm Good (Blue) 🔞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</a:rPr>
              <a:t>David Guetta · Bebe Rexha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98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862072"/>
            <a:ext cx="5029200" cy="347472"/>
          </a:xfrm>
          <a:prstGeom prst="roundRect">
            <a:avLst>
              <a:gd name="adj" fmla="val 13158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 Porto Bonito 🔞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</a:rPr>
              <a:t>Bad Bunny · Chencho Corleone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2898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97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577840" y="960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F5"/>
                </a:solidFill>
              </a:rPr>
              <a:t>🎵 Recomendação similar a Unholy (Cosine Similarity)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77840" y="1325880"/>
            <a:ext cx="3291840" cy="347472"/>
          </a:xfrm>
          <a:prstGeom prst="roundRect">
            <a:avLst>
              <a:gd name="adj" fmla="val 13158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0" y="137160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A3F5"/>
                </a:solidFill>
              </a:rPr>
              <a:t>sim=0.973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13716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 Know You (feat. Bastille)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1709928"/>
            <a:ext cx="3291840" cy="347472"/>
          </a:xfrm>
          <a:prstGeom prst="roundRect">
            <a:avLst>
              <a:gd name="adj" fmla="val 13158"/>
            </a:avLst>
          </a:prstGeom>
          <a:solidFill>
            <a:srgbClr val="0A0A0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0" y="17556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A3F5"/>
                </a:solidFill>
              </a:rPr>
              <a:t>sim=0.965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17556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jaded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2093976"/>
            <a:ext cx="3291840" cy="347472"/>
          </a:xfrm>
          <a:prstGeom prst="roundRect">
            <a:avLst>
              <a:gd name="adj" fmla="val 13158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0" y="213969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A3F5"/>
                </a:solidFill>
              </a:rPr>
              <a:t>sim=0.930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213969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Seven Nation Army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2478024"/>
            <a:ext cx="3291840" cy="347472"/>
          </a:xfrm>
          <a:prstGeom prst="roundRect">
            <a:avLst>
              <a:gd name="adj" fmla="val 13158"/>
            </a:avLst>
          </a:prstGeom>
          <a:solidFill>
            <a:srgbClr val="0A0A0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0" y="252374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A3F5"/>
                </a:solidFill>
              </a:rPr>
              <a:t>sim=0.930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25237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Shower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2862072"/>
            <a:ext cx="3291840" cy="347472"/>
          </a:xfrm>
          <a:prstGeom prst="roundRect">
            <a:avLst>
              <a:gd name="adj" fmla="val 13158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0" y="29077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A3F5"/>
                </a:solidFill>
              </a:rPr>
              <a:t>sim=0.928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537960" y="29077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Ex-Wives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</a:rPr>
              <a:t>Como executar: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201168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846320" y="4279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|  ou abrir frontend_spotify.html no navegador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Tecnologias  ·  Conceitos Aplicados  ·  Aprendizados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" y="13807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1618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Linguagem principal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4328" y="13807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1618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Manipulação de dados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" y="20208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NumPy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Álgebra vetorial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9659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24328" y="20208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24328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StandardScaler + Cosine Similarity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" y="26609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 + CSS + JS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" y="2898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Frontend puro — sem frameworks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26060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24328" y="26609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VSCode + venv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624328" y="2898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Ambiente de desenvolvimento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Conceitos do guia pedagógico aplicados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371600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19472" y="1335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Similaridade musical por vetor (DNA musical)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819656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19472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Cosine similarity vs distância euclidiana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267712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19472" y="22311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StandardScaler para normalizar escalas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715768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19472" y="2679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Recomendador baseado em conteúdo (content-based)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163824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19472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Diversidade com MMR (Maximal Marginal Relevance)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611880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19472" y="35753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Outlier ≠ erro — investigar antes de decidir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4059936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19472" y="4023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Popularidade como sinal auxiliar, não principal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4507992"/>
            <a:ext cx="128016" cy="12801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19472" y="4471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Split por track_id para evitar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001A0D"/>
          </a:solidFill>
          <a:ln w="12700">
            <a:solidFill>
              <a:srgbClr val="158A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0" y="548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DB954"/>
                </a:solidFill>
              </a:rPr>
              <a:t>♪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Grandes cientistas de dados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</a:rPr>
              <a:t>começam pelas perguntas.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6A6A"/>
                </a:solidFill>
              </a:rPr>
              <a:t>SpotData  ·  Detetives dos Dados  ·  Residência em IA  ·  UnB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2026-08-30T20:51:08Z</dcterms:created>
  <dcterms:modified xsi:type="dcterms:W3CDTF">2026-08-30T20:51:08Z</dcterms:modified>
</cp:coreProperties>
</file>